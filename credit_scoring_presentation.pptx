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6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E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Design, Development &amp; MLOps Roadmap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606040"/>
            <a:ext cx="16459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EE3F0"/>
                </a:solidFill>
              </a:rPr>
              <a:t>Applicants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34640" y="2606040"/>
            <a:ext cx="16459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EE3F0"/>
                </a:solidFill>
              </a:rPr>
              <a:t>Default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2606040"/>
            <a:ext cx="16459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EE3F0"/>
                </a:solidFill>
              </a:rPr>
              <a:t>Feat. Engineered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2606040"/>
            <a:ext cx="16459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EE3F0"/>
                </a:solidFill>
              </a:rPr>
              <a:t>Models Tested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EE3F0"/>
                </a:solidFill>
              </a:rPr>
              <a:t>Python · scikit-learn · XGBoost · LightGBM · SHAP · MLflow  |  Senior Data Scientist / Credit Risk Architect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BF3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Feature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Imputation · Derived Ratios · Transformations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9144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749808"/>
            <a:ext cx="402336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749808"/>
            <a:ext cx="4023360" cy="54864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8A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1704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· Column names had leading/trailing spaces → stripped &amp; snake_case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1517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· Debt columns stored as negatives → abs() applied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186537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· 800 rows · 9 raw columns · zero missing values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221284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· Imputation: median (skewed cols) · mean (normal cols)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749808"/>
            <a:ext cx="416052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749808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8A"/>
                </a:solidFill>
              </a:rPr>
              <a:t>Engineered Features  (15 total → 8 raw)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1170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total_debt</a:t>
            </a:r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  cc + auto + other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46320" y="1517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dti / cc_dti / auto_dti</a:t>
            </a:r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  debt-to-income ratios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46320" y="1865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debt_per_year</a:t>
            </a:r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  total_debt / age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46320" y="2212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stability_index</a:t>
            </a:r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  avg(yrs_employer, yrs_addr) / age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46320" y="2560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log_income</a:t>
            </a:r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  log1p transform for skew correction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2944368"/>
            <a:ext cx="8503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2944368"/>
            <a:ext cx="8503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3063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8A"/>
                </a:solidFill>
              </a:rPr>
              <a:t>Pipeline: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325880" y="30632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Impute → PowerTransform (Yeo-Johnson on income) → RobustScaler → sklearn Pipeline (no leakage)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33375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</a:rPr>
              <a:t>Derived ratios carry the most predictive signal — cc_dti IV 0.368 vs raw income IV 0.093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BF3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Analysis &amp; Model Comparison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 · 5-Fold CV Results · Champion Selection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9144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713232"/>
            <a:ext cx="4114800" cy="274320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749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77440" y="749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IV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154680" y="749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Strength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987552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cc_dti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77440" y="10698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0.368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069848"/>
            <a:ext cx="731520" cy="20116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1078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0040" y="1371600"/>
            <a:ext cx="4114800" cy="365760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453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age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377440" y="14538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0.349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1453896"/>
            <a:ext cx="731520" cy="20116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0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20040" y="1755648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1837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credit_card_debt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377440" y="18379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0.343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0" y="1837944"/>
            <a:ext cx="731520" cy="20116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5" name="Text 22"/>
          <p:cNvSpPr/>
          <p:nvPr/>
        </p:nvSpPr>
        <p:spPr>
          <a:xfrm>
            <a:off x="3200400" y="1847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040" y="2139696"/>
            <a:ext cx="4114800" cy="365760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221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total_debt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377440" y="2221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0.311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00400" y="2221992"/>
            <a:ext cx="731520" cy="20116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0" name="Text 27"/>
          <p:cNvSpPr/>
          <p:nvPr/>
        </p:nvSpPr>
        <p:spPr>
          <a:xfrm>
            <a:off x="3200400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Strong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20040" y="2523744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2606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years_at_address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377440" y="26060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0.259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200400" y="2606040"/>
            <a:ext cx="73152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2"/>
          <p:cNvSpPr/>
          <p:nvPr/>
        </p:nvSpPr>
        <p:spPr>
          <a:xfrm>
            <a:off x="3200400" y="2615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20040" y="2907792"/>
            <a:ext cx="4114800" cy="365760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2990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debt_per_year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377440" y="29900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0.229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200400" y="2990088"/>
            <a:ext cx="73152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0" name="Text 37"/>
          <p:cNvSpPr/>
          <p:nvPr/>
        </p:nvSpPr>
        <p:spPr>
          <a:xfrm>
            <a:off x="3200400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20040" y="32918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3374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years_at_employer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377440" y="33741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0.178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200400" y="3374136"/>
            <a:ext cx="73152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5" name="Text 42"/>
          <p:cNvSpPr/>
          <p:nvPr/>
        </p:nvSpPr>
        <p:spPr>
          <a:xfrm>
            <a:off x="3200400" y="3383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320040" y="3675888"/>
            <a:ext cx="4114800" cy="365760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3758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income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2377440" y="375818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0.093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200400" y="3758184"/>
            <a:ext cx="73152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7"/>
          <p:cNvSpPr/>
          <p:nvPr/>
        </p:nvSpPr>
        <p:spPr>
          <a:xfrm>
            <a:off x="3200400" y="3767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Weak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709160" y="713232"/>
            <a:ext cx="4114800" cy="274320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52" name="Text 49"/>
          <p:cNvSpPr/>
          <p:nvPr/>
        </p:nvSpPr>
        <p:spPr>
          <a:xfrm>
            <a:off x="4846320" y="749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446520" y="749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AUC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7086600" y="749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Std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680960" y="749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Prec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8275320" y="749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F1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709160" y="987552"/>
            <a:ext cx="4114800" cy="457200"/>
          </a:xfrm>
          <a:prstGeom prst="rect">
            <a:avLst/>
          </a:prstGeom>
          <a:solidFill>
            <a:srgbClr val="E8F5FD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09160" y="987552"/>
            <a:ext cx="54864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9" name="Text 56"/>
          <p:cNvSpPr/>
          <p:nvPr/>
        </p:nvSpPr>
        <p:spPr>
          <a:xfrm>
            <a:off x="4846320" y="1097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Random Forest ★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6446520" y="10972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8A"/>
                </a:solidFill>
              </a:rPr>
              <a:t>0.5927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7086600" y="10972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±0.1013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7680960" y="10972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0.1223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8275320" y="10972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0.0614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709160" y="1463040"/>
            <a:ext cx="4114800" cy="457200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846320" y="1572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6446520" y="1572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8A"/>
                </a:solidFill>
              </a:rPr>
              <a:t>0.5873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7086600" y="1572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±0.1026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7680960" y="1572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0.1514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8275320" y="1572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0.1154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709160" y="1938528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846320" y="20482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35"/>
                </a:solidFill>
              </a:rPr>
              <a:t>GradBoost (proxy)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6446520" y="20482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8A"/>
                </a:solidFill>
              </a:rPr>
              <a:t>0.5387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7086600" y="20482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±0.0662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7680960" y="20482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0.1194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8275320" y="20482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0.0667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470916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07D8B"/>
                </a:solidFill>
              </a:rPr>
              <a:t>Champion: Random Forest (highest AUC-ROC 0.5927)  ·  GradBoost uses sklearn proxy — native XGBoost/LightGBM expected AUC 0.62–0.68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320040" y="3977640"/>
            <a:ext cx="8503920" cy="54864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79" name="Text 76"/>
          <p:cNvSpPr/>
          <p:nvPr/>
        </p:nvSpPr>
        <p:spPr>
          <a:xfrm>
            <a:off x="502920" y="4096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8A"/>
                </a:solidFill>
              </a:rPr>
              <a:t>Selection Criteria: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502920" y="4343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AUC-ROC </a:t>
            </a:r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ranking (threshold-agnostic)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2560320" y="4343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Avg Precision / F1 </a:t>
            </a:r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minority class (5% default)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4617720" y="4343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LogLoss </a:t>
            </a:r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calibration quality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6675120" y="4343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Interpretability </a:t>
            </a:r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SR 11-7 / ECOA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BF3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Income Paradox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· Model 1/2/3 Architecture Decision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9144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713232"/>
            <a:ext cx="411480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713232"/>
            <a:ext cx="4114800" cy="54864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841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8A"/>
                </a:solidFill>
              </a:rPr>
              <a:t>Permutation Importance  (AUC drop ×10⁻³)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243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93392" y="1261872"/>
            <a:ext cx="219456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224528" y="1243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17.9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6733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credit_card_debt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93392" y="1691640"/>
            <a:ext cx="1213751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3243719" y="1673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9.9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debt_per_year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993392" y="2121408"/>
            <a:ext cx="894988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2924956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7.3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2532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cc_dti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993392" y="2551176"/>
            <a:ext cx="833688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2863656" y="2532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6.8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2962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years_at_address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993392" y="2980944"/>
            <a:ext cx="490404" cy="237744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4" name="Text 21"/>
          <p:cNvSpPr/>
          <p:nvPr/>
        </p:nvSpPr>
        <p:spPr>
          <a:xfrm>
            <a:off x="2520372" y="29626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" y="33924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auto_dti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93392" y="3410712"/>
            <a:ext cx="355543" cy="237744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7" name="Text 24"/>
          <p:cNvSpPr/>
          <p:nvPr/>
        </p:nvSpPr>
        <p:spPr>
          <a:xfrm>
            <a:off x="2385511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2.9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" y="38221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E35"/>
                </a:solidFill>
              </a:rPr>
              <a:t>dti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993392" y="3840480"/>
            <a:ext cx="343283" cy="237744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0" name="Text 27"/>
          <p:cNvSpPr/>
          <p:nvPr/>
        </p:nvSpPr>
        <p:spPr>
          <a:xfrm>
            <a:off x="2373251" y="3822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2.8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09160" y="8412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8A"/>
                </a:solidFill>
              </a:rPr>
              <a:t>Income Paradox: Model Architecture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1152144"/>
            <a:ext cx="41148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09160" y="1152144"/>
            <a:ext cx="411480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4892040" y="1280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Model 1 — Score Only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89520" y="1261872"/>
            <a:ext cx="1051560" cy="256032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12710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6E8A"/>
                </a:solidFill>
              </a:rPr>
              <a:t>AUC 0.6752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92040" y="1572768"/>
            <a:ext cx="100584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5"/>
          <p:cNvSpPr/>
          <p:nvPr/>
        </p:nvSpPr>
        <p:spPr>
          <a:xfrm>
            <a:off x="4892040" y="15819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Risk: MODERATE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035040" y="1554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Income in scorecard. High income → lower PD. Risk: high leverage under-penalised.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709160" y="2249424"/>
            <a:ext cx="41148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09160" y="2249424"/>
            <a:ext cx="4114800" cy="5486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2" name="Text 39"/>
          <p:cNvSpPr/>
          <p:nvPr/>
        </p:nvSpPr>
        <p:spPr>
          <a:xfrm>
            <a:off x="4892040" y="2377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Model 2 — Limit Only  ★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589520" y="2359152"/>
            <a:ext cx="1051560" cy="256032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89520" y="23682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6E8A"/>
                </a:solidFill>
              </a:rPr>
              <a:t>AUC 0.6748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2670048"/>
            <a:ext cx="1005840" cy="20116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6" name="Text 43"/>
          <p:cNvSpPr/>
          <p:nvPr/>
        </p:nvSpPr>
        <p:spPr>
          <a:xfrm>
            <a:off x="4892040" y="2679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Risk: LOW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035040" y="2651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Income excluded from score; used only for credit limit. Clean risk/exposure separation.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709160" y="3346704"/>
            <a:ext cx="41148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709160" y="3346704"/>
            <a:ext cx="41148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7"/>
          <p:cNvSpPr/>
          <p:nvPr/>
        </p:nvSpPr>
        <p:spPr>
          <a:xfrm>
            <a:off x="4892040" y="3474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Model 3 — Dual Usage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589520" y="3456432"/>
            <a:ext cx="1051560" cy="256032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589520" y="34655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6E8A"/>
                </a:solidFill>
              </a:rPr>
              <a:t>AUC 0.6752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892040" y="3767328"/>
            <a:ext cx="100584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4" name="Text 51"/>
          <p:cNvSpPr/>
          <p:nvPr/>
        </p:nvSpPr>
        <p:spPr>
          <a:xfrm>
            <a:off x="4892040" y="3776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Risk: HIGH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6035040" y="3749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Income in both models. Double-counts: lowers PD AND raises EAD → EL understated.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4709160" y="4315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2"/>
                </a:solidFill>
              </a:rPr>
              <a:t>★  Recommended: Model 2  |  EL = PD × LGD × EAD — double-counting understates total Expected Loss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BF3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&amp; MLOps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CSI · CI/CD/CT Pipeline · Retraining Triggers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91440"/>
            <a:ext cx="274320" cy="2743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9144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713232"/>
            <a:ext cx="41148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713232"/>
            <a:ext cx="4114800" cy="54864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841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8A"/>
                </a:solidFill>
              </a:rPr>
              <a:t>PSI Drift Detection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1133856"/>
            <a:ext cx="3749040" cy="384048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1612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PSI = Σ (Actual% − Expected%) × ln(Actual% / Expected%)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" y="1609344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1700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2"/>
                </a:solidFill>
              </a:rPr>
              <a:t>&lt; 0.10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508760" y="1700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Stable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651760" y="17007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Continue monitoring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2920" y="2066544"/>
            <a:ext cx="3749040" cy="402336"/>
          </a:xfrm>
          <a:prstGeom prst="rect">
            <a:avLst/>
          </a:prstGeom>
          <a:solidFill>
            <a:srgbClr val="EBF3F8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21579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0.10–0.25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508760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Slight Shift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651760" y="21579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Investigate; flag for review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2523744"/>
            <a:ext cx="3749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26151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&gt; 0.25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508760" y="2615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</a:rPr>
              <a:t>Significant Drift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651760" y="26151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Trigger retraining pipeline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02920" y="3035808"/>
            <a:ext cx="374904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4360" y="3090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⚠  Demo result: PSI = 0.3481  →  ALERT – retraining required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09160" y="713232"/>
            <a:ext cx="411480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709160" y="713232"/>
            <a:ext cx="4114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5"/>
          <p:cNvSpPr/>
          <p:nvPr/>
        </p:nvSpPr>
        <p:spPr>
          <a:xfrm>
            <a:off x="4892040" y="841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8A"/>
                </a:solidFill>
              </a:rPr>
              <a:t>CI/CD/CT Pipeline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892040" y="11978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⚙  Data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35040" y="12435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Airflow · Feast · Great Expectations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892040" y="1700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🔁  Train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035040" y="17465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MLflow · sklearn Pipelines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892040" y="22037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✅  Validate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035040" y="22494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OOT backtest · AUC ≥ 0.60 gate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4892040" y="27066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🚀  Deploy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035040" y="27523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Docker · K8s · Champion-Challenger 90/10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89204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📊  Monitor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35040" y="3255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Evidently AI · Grafana · PagerDuty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320040" y="3858768"/>
            <a:ext cx="8503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320040" y="3858768"/>
            <a:ext cx="8503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38"/>
          <p:cNvSpPr/>
          <p:nvPr/>
        </p:nvSpPr>
        <p:spPr>
          <a:xfrm>
            <a:off x="502920" y="3977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8A"/>
                </a:solidFill>
              </a:rPr>
              <a:t>Retraining Triggers: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2194560" y="397764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PSI &gt; 0.25  ·  Rolling 30-day ΔAUC &gt; 0.03  ·  Quarterly scheduled  ·  Concept drift &gt; 2σ baseline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02920" y="4251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</a:rPr>
              <a:t>Governance: SHAP logged per version · Adverse action codes (ECOA) · Fairness audit quarterly · SR 11-7 model card in MLflow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BF3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· Architecture Decisions · Roadmap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9144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713232"/>
            <a:ext cx="8503920" cy="566928"/>
          </a:xfrm>
          <a:prstGeom prst="rect">
            <a:avLst/>
          </a:prstGeom>
          <a:solidFill>
            <a:srgbClr val="EBF3F8"/>
          </a:solidFill>
          <a:ln w="12700">
            <a:solidFill>
              <a:srgbClr val="0A6E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713232"/>
            <a:ext cx="54864" cy="5669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8A"/>
                </a:solidFill>
              </a:rPr>
              <a:t>🏆  Champion: Random Forest  →  Production target: LightGBM  (Target AUC ≥ 0.68 · Avg Precision ≥ 0.18 · PSI &lt; 0.10)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444752"/>
            <a:ext cx="2697480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444752"/>
            <a:ext cx="2697480" cy="54864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186537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Use DTI &amp; cc_dti over raw debt. log_income for skew. Derived ratios outperform raw values (IV 0.37 vs 0.09).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1444752"/>
            <a:ext cx="2697480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444752"/>
            <a:ext cx="2697480" cy="5486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</a:rPr>
              <a:t>Income Architecture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37560" y="186537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Model 2: income for limit-setting only. Prevents double-counting in EL = PD × LGD × EAD.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0760" y="1444752"/>
            <a:ext cx="2697480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0760" y="1444752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</a:rPr>
              <a:t>Imbalance Handling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17920" y="186537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class_weight='balanced' + threshold optimisation on PR curve (max F1). SMOTE optional.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2953512"/>
            <a:ext cx="2697480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2953512"/>
            <a:ext cx="269748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081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</a:rPr>
              <a:t>Monitoring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33741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PSI monthly on score + CSI per feature. Retrain at PSI &gt; 0.25 or ΔAUC &gt; 0.03 over 30 days.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0" y="2953512"/>
            <a:ext cx="2697480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0" y="2953512"/>
            <a:ext cx="2697480" cy="54864"/>
          </a:xfrm>
          <a:prstGeom prst="rect">
            <a:avLst/>
          </a:prstGeom>
          <a:solidFill>
            <a:srgbClr val="0A6E8A"/>
          </a:solidFill>
          <a:ln/>
        </p:spPr>
      </p:sp>
      <p:sp>
        <p:nvSpPr>
          <p:cNvPr id="28" name="Text 25"/>
          <p:cNvSpPr/>
          <p:nvPr/>
        </p:nvSpPr>
        <p:spPr>
          <a:xfrm>
            <a:off x="3337560" y="3081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</a:rPr>
              <a:t>Explainability (SHAP)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337560" y="33741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TreeExplainer: global + local. Top-3 negative SHAP features → adverse action reason codes.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80760" y="2953512"/>
            <a:ext cx="2697480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80760" y="2953512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0" y="3081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</a:rPr>
              <a:t>MLOps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217920" y="33741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MLflow registry · Airflow DAG · Champion-Challenger A/B (90/10) · SR 11-7 model card.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07D8B"/>
                </a:solidFill>
              </a:rPr>
              <a:t>Credit Scoring System  ·  Methodology Report  ·  Senior Data Scientist / Credit Risk Architect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System</dc:title>
  <dc:subject>PptxGenJS Presentation</dc:subject>
  <dc:creator>PptxGenJS</dc:creator>
  <cp:lastModifiedBy>PptxGenJS</cp:lastModifiedBy>
  <cp:revision>1</cp:revision>
  <dcterms:created xsi:type="dcterms:W3CDTF">2026-03-11T20:51:32Z</dcterms:created>
  <dcterms:modified xsi:type="dcterms:W3CDTF">2026-03-11T20:51:32Z</dcterms:modified>
</cp:coreProperties>
</file>